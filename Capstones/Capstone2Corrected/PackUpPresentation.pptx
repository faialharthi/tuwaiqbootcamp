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739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31805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 storage space from people near you</a:t>
            </a:r>
            <a:endParaRPr lang="en-US" sz="1200" dirty="0"/>
          </a:p>
        </p:txBody>
      </p:sp>
      <p:pic>
        <p:nvPicPr>
          <p:cNvPr id="3" name="Image 0" descr="PackUp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750" y="2057846"/>
            <a:ext cx="952500" cy="952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74712" y="3241898"/>
            <a:ext cx="4842576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7500"/>
              </a:lnSpc>
              <a:buNone/>
            </a:pPr>
            <a:r>
              <a:rPr lang="en-US" sz="7500" b="1" kern="0" spc="-100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Pack</a:t>
            </a:r>
            <a:r>
              <a:rPr lang="en-US" sz="7500" b="1" kern="0" spc="-100" dirty="0">
                <a:solidFill>
                  <a:srgbClr val="E8963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Up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4756150" y="4451350"/>
            <a:ext cx="276663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Store more. Stress less.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People have extra space they don't use. Others can't find storage they can afford.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454870"/>
            <a:ext cx="3386634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31900" y="287397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7600" y="3343870"/>
            <a:ext cx="286034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Wasted space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7600" y="3714700"/>
            <a:ext cx="286034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Garages, storage rooms, and small warehouses sit empty. Their owners earn nothing from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2634" y="2454870"/>
            <a:ext cx="3386683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4707434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1734" y="287397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7434" y="3343870"/>
            <a:ext cx="28603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Storage is expensive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7434" y="3714700"/>
            <a:ext cx="286039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Storage companies charge high prices and ask for long contracts. They're not always close by either.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2517" y="2454870"/>
            <a:ext cx="3386683" cy="338713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SA"/>
          </a:p>
        </p:txBody>
      </p:sp>
      <p:sp>
        <p:nvSpPr>
          <p:cNvPr id="15" name="Shape 11"/>
          <p:cNvSpPr/>
          <p:nvPr/>
        </p:nvSpPr>
        <p:spPr>
          <a:xfrm>
            <a:off x="8297317" y="27596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6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1617" y="287397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7317" y="3343870"/>
            <a:ext cx="286039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 easy way to connect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97317" y="3714700"/>
            <a:ext cx="2860396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There's no simple app that connects the two sides the way ride-sharing apps connect drivers and riders.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COMMON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280120"/>
            <a:ext cx="1088339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Two people who never met and don't need to look far.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960811"/>
            <a:ext cx="4775200" cy="3360489"/>
          </a:xfrm>
          <a:prstGeom prst="roundRect">
            <a:avLst>
              <a:gd name="adj" fmla="val 4535"/>
            </a:avLst>
          </a:prstGeom>
          <a:solidFill>
            <a:srgbClr val="EDE0D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117600" y="2265611"/>
            <a:ext cx="42905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5E3A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7600" y="2562771"/>
            <a:ext cx="42905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Sara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7600" y="2969171"/>
            <a:ext cx="4290568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Sara is moving to a smaller apartment for 3 months. She needs to store her furniture, but a storage company wants 400 SAR a month, with a 6-month contract.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42000" y="338703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9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3501330"/>
            <a:ext cx="279400" cy="279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604000" y="1960811"/>
            <a:ext cx="4775200" cy="3360489"/>
          </a:xfrm>
          <a:prstGeom prst="roundRect">
            <a:avLst>
              <a:gd name="adj" fmla="val 4535"/>
            </a:avLst>
          </a:prstGeom>
          <a:solidFill>
            <a:srgbClr val="EDE0D0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1" name="Text 8"/>
          <p:cNvSpPr/>
          <p:nvPr/>
        </p:nvSpPr>
        <p:spPr>
          <a:xfrm>
            <a:off x="6908800" y="2265611"/>
            <a:ext cx="4290568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50" dirty="0">
                <a:solidFill>
                  <a:srgbClr val="5E3A1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08800" y="2562771"/>
            <a:ext cx="429056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Noura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908800" y="2969171"/>
            <a:ext cx="4290568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Noura has an empty garage in Al Olaya. She never uses it, it just sits there, earning her nothing, every month.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4304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Neither of them knows the other exists. That's the gap PackUp closes.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PackUp connects Sara and Noura directly.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042120"/>
            <a:ext cx="91567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platform where anyone can list space they're not using, and anyone nearby can book it. Everything else is handled for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854920"/>
            <a:ext cx="199132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6" name="Shape 4"/>
          <p:cNvSpPr/>
          <p:nvPr/>
        </p:nvSpPr>
        <p:spPr>
          <a:xfrm>
            <a:off x="160526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7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06860" y="3868390"/>
            <a:ext cx="203200" cy="203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6490" y="4274790"/>
            <a:ext cx="88394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1. Register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9800" y="4574480"/>
            <a:ext cx="17373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Create an account as an owner or a renter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652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8"/>
          <p:cNvSpPr/>
          <p:nvPr/>
        </p:nvSpPr>
        <p:spPr>
          <a:xfrm>
            <a:off x="374898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2" name="Image 1" descr="Hom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50580" y="3868390"/>
            <a:ext cx="203200" cy="20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3523" y="4274790"/>
            <a:ext cx="121731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2. List a space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8352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publish their space in minutes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10029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6" name="Shape 12"/>
          <p:cNvSpPr/>
          <p:nvPr/>
        </p:nvSpPr>
        <p:spPr>
          <a:xfrm>
            <a:off x="589275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17" name="Image 2" descr="Che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94350" y="3868390"/>
            <a:ext cx="203200" cy="203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9273" y="4274790"/>
            <a:ext cx="6533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3. Book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2729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check availability and book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4406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1" name="Shape 16"/>
          <p:cNvSpPr/>
          <p:nvPr/>
        </p:nvSpPr>
        <p:spPr>
          <a:xfrm>
            <a:off x="803652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2" name="Image 3" descr="Cha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38120" y="3868390"/>
            <a:ext cx="203200" cy="203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76344" y="4274790"/>
            <a:ext cx="1326753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4. Stay updated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7106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Both sides get WhatsApp alerts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387830" y="2854920"/>
            <a:ext cx="1991370" cy="2987080"/>
          </a:xfrm>
          <a:prstGeom prst="roundRect">
            <a:avLst>
              <a:gd name="adj" fmla="val 6378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26" name="Shape 20"/>
          <p:cNvSpPr/>
          <p:nvPr/>
        </p:nvSpPr>
        <p:spPr>
          <a:xfrm>
            <a:off x="10180290" y="37667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BE6CB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27" name="Image 4" descr="Star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1890" y="3868390"/>
            <a:ext cx="203200" cy="203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72377" y="4274790"/>
            <a:ext cx="82227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5. Review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514830" y="4574480"/>
            <a:ext cx="17373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rate their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Owners stay in control. Renters book with confidence.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331641"/>
            <a:ext cx="511969" cy="27940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244600" y="2382441"/>
            <a:ext cx="3087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76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/space/changeStatus/{spaceId}/{ownerId}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6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Turn availability on or 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can mark their space as available or not, any time no more outdated listings.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76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02400" y="2331641"/>
            <a:ext cx="508893" cy="27940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629400" y="2382441"/>
            <a:ext cx="3056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02400" y="2738041"/>
            <a:ext cx="470916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/booking/checkAvailability/{spaceId}/{startDate}/{endDate}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2400" y="325616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 availability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362699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Renters check that a space is free for their dates before they book.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11319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026120"/>
            <a:ext cx="11131931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Every update reaches the user right away on WhatsApp.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12800" y="2550220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965200" y="2677220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054100" y="2702620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99778" y="2698155"/>
            <a:ext cx="26489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/booking/cancelBooking/{bookingId}/{renterId}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65200" y="2890540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Cancel a booking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5200" y="3096270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the renter an instant WhatsApp cancellation notice.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12800" y="3484860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965200" y="3611860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1054100" y="3637260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399778" y="3632795"/>
            <a:ext cx="341409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/booking/extendBooking/{bookingId}/{renterId}/{newEndDate}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5200" y="3825180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Extend a booking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5200" y="4030911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the renter a WhatsApp message confirming the new end date.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2800" y="4419501"/>
            <a:ext cx="5295900" cy="833041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7" name="Shape 15"/>
          <p:cNvSpPr/>
          <p:nvPr/>
        </p:nvSpPr>
        <p:spPr>
          <a:xfrm>
            <a:off x="965200" y="4546501"/>
            <a:ext cx="358378" cy="17522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8" name="Text 16"/>
          <p:cNvSpPr/>
          <p:nvPr/>
        </p:nvSpPr>
        <p:spPr>
          <a:xfrm>
            <a:off x="1054100" y="4571901"/>
            <a:ext cx="231378" cy="149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399778" y="4567436"/>
            <a:ext cx="347295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/booking/completeBooking/{bookingId}/{renterId}/{newAmount}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65200" y="4759821"/>
            <a:ext cx="5140833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Complete a booking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5200" y="4965551"/>
            <a:ext cx="5140833" cy="185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a thank</a:t>
            </a:r>
            <a:r>
              <a:rPr lang="ar-SA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9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message, plus a 20% discount for next time.</a:t>
            </a:r>
            <a:endParaRPr lang="en-US" sz="900" dirty="0"/>
          </a:p>
        </p:txBody>
      </p:sp>
      <p:pic>
        <p:nvPicPr>
          <p:cNvPr id="22" name="Image 0" descr="WhatsApp booking cancelled notification on a phone"/>
          <p:cNvPicPr>
            <a:picLocks noChangeAspect="1"/>
          </p:cNvPicPr>
          <p:nvPr/>
        </p:nvPicPr>
        <p:blipFill>
          <a:blip r:embed="rId3"/>
          <a:srcRect t="-67" b="-67"/>
          <a:stretch/>
        </p:blipFill>
        <p:spPr>
          <a:xfrm>
            <a:off x="6648450" y="2317055"/>
            <a:ext cx="1460500" cy="3168650"/>
          </a:xfrm>
          <a:prstGeom prst="rect">
            <a:avLst/>
          </a:prstGeom>
        </p:spPr>
      </p:pic>
      <p:pic>
        <p:nvPicPr>
          <p:cNvPr id="23" name="Image 1" descr="WhatsApp booking extended notification on a phone"/>
          <p:cNvPicPr>
            <a:picLocks noChangeAspect="1"/>
          </p:cNvPicPr>
          <p:nvPr/>
        </p:nvPicPr>
        <p:blipFill>
          <a:blip r:embed="rId4"/>
          <a:srcRect t="-67" b="-67"/>
          <a:stretch/>
        </p:blipFill>
        <p:spPr>
          <a:xfrm>
            <a:off x="8286750" y="2317055"/>
            <a:ext cx="1460500" cy="3168650"/>
          </a:xfrm>
          <a:prstGeom prst="rect">
            <a:avLst/>
          </a:prstGeom>
        </p:spPr>
      </p:pic>
      <p:pic>
        <p:nvPicPr>
          <p:cNvPr id="24" name="Image 2" descr="WhatsApp booking completed notification with loyalty discount on a phone"/>
          <p:cNvPicPr>
            <a:picLocks noChangeAspect="1"/>
          </p:cNvPicPr>
          <p:nvPr/>
        </p:nvPicPr>
        <p:blipFill>
          <a:blip r:embed="rId5"/>
          <a:srcRect t="-67" b="-67"/>
          <a:stretch/>
        </p:blipFill>
        <p:spPr>
          <a:xfrm>
            <a:off x="9925050" y="2317055"/>
            <a:ext cx="146050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KEY FEATURE ·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Built-in trust, and a clear view of earnings.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1117600" y="2331641"/>
            <a:ext cx="511969" cy="279400"/>
          </a:xfrm>
          <a:prstGeom prst="roundRect">
            <a:avLst>
              <a:gd name="adj" fmla="val 50000"/>
            </a:avLst>
          </a:prstGeom>
          <a:solidFill>
            <a:srgbClr val="8B5A2B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6" name="Text 4"/>
          <p:cNvSpPr/>
          <p:nvPr/>
        </p:nvSpPr>
        <p:spPr>
          <a:xfrm>
            <a:off x="1244600" y="2382441"/>
            <a:ext cx="30876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76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/user/blockRenter/{ownerId}/{blockedRenter}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76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Block a renter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76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a renter causes problems, the owner can block them from booking again.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7600" y="2026841"/>
            <a:ext cx="5181600" cy="3815159"/>
          </a:xfrm>
          <a:prstGeom prst="roundRect">
            <a:avLst>
              <a:gd name="adj" fmla="val 3995"/>
            </a:avLst>
          </a:prstGeom>
          <a:solidFill>
            <a:srgbClr val="FFFFFF"/>
          </a:solidFill>
          <a:ln/>
          <a:effectLst>
            <a:outerShdw blurRad="152400" dist="50800" dir="5400000" algn="bl" rotWithShape="0">
              <a:srgbClr val="2B211A">
                <a:alpha val="6000"/>
              </a:srgbClr>
            </a:outerShdw>
          </a:effectLst>
        </p:spPr>
        <p:txBody>
          <a:bodyPr/>
          <a:lstStyle/>
          <a:p>
            <a:endParaRPr lang="en-SA"/>
          </a:p>
        </p:txBody>
      </p:sp>
      <p:sp>
        <p:nvSpPr>
          <p:cNvPr id="11" name="Shape 9"/>
          <p:cNvSpPr/>
          <p:nvPr/>
        </p:nvSpPr>
        <p:spPr>
          <a:xfrm>
            <a:off x="6502400" y="2331641"/>
            <a:ext cx="508893" cy="279400"/>
          </a:xfrm>
          <a:prstGeom prst="roundRect">
            <a:avLst>
              <a:gd name="adj" fmla="val 50000"/>
            </a:avLst>
          </a:prstGeom>
          <a:solidFill>
            <a:srgbClr val="E8963C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2" name="Text 10"/>
          <p:cNvSpPr/>
          <p:nvPr/>
        </p:nvSpPr>
        <p:spPr>
          <a:xfrm>
            <a:off x="6629400" y="2382441"/>
            <a:ext cx="30569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02400" y="2738041"/>
            <a:ext cx="470916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E3A1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/booking/calculateProfits/{ownerId}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02400" y="3060601"/>
            <a:ext cx="470916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B211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 total earnings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3431431"/>
            <a:ext cx="470916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Owners can see how much they've earned from all their completed bookings, in one place.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029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Capstone Project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POWERED BY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305520"/>
            <a:ext cx="10883392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80"/>
              </a:lnSpc>
              <a:buNone/>
            </a:pPr>
            <a:r>
              <a:rPr lang="en-US" sz="2900" b="1" dirty="0">
                <a:solidFill>
                  <a:srgbClr val="F8F5E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Writing a good listing description takes seconds.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2026841"/>
            <a:ext cx="4072483" cy="3307159"/>
          </a:xfrm>
          <a:prstGeom prst="roundRect">
            <a:avLst>
              <a:gd name="adj" fmla="val 4608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Text 3"/>
          <p:cNvSpPr/>
          <p:nvPr/>
        </p:nvSpPr>
        <p:spPr>
          <a:xfrm>
            <a:off x="1092200" y="2306241"/>
            <a:ext cx="36190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OWNER PROVIDES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2200" y="2611041"/>
            <a:ext cx="3619094" cy="867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Title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City &amp; address</a:t>
            </a:r>
            <a:endParaRPr lang="en-US" sz="1300" dirty="0"/>
          </a:p>
          <a:p>
            <a:pPr marL="198120" indent="-155956" algn="l">
              <a:lnSpc>
                <a:spcPts val="2210"/>
              </a:lnSpc>
              <a:buSzPct val="100000"/>
              <a:buChar char="•"/>
            </a:pPr>
            <a:r>
              <a:rPr lang="en-US" sz="13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Price &amp; size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4683" y="34518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8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78983" y="356612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01283" y="2026841"/>
            <a:ext cx="5477917" cy="3307159"/>
          </a:xfrm>
          <a:prstGeom prst="roundRect">
            <a:avLst>
              <a:gd name="adj" fmla="val 4608"/>
            </a:avLst>
          </a:prstGeom>
          <a:solidFill>
            <a:srgbClr val="3A2E22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Text 7"/>
          <p:cNvSpPr/>
          <p:nvPr/>
        </p:nvSpPr>
        <p:spPr>
          <a:xfrm>
            <a:off x="6180683" y="2306241"/>
            <a:ext cx="506669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5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GEMINI GENERATES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80683" y="2585641"/>
            <a:ext cx="506669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8F5E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ready-to-use description, written in Arabic and English at the same time.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56134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POST /space/generateDescription — this one call asks Google Gemini to write the listing, so the owner doesn't have 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8270" y="1559570"/>
            <a:ext cx="1186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8B5A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POWERED BY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92432" y="2128490"/>
            <a:ext cx="640713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two integrations in PackUp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1000" y="2941290"/>
            <a:ext cx="4292600" cy="2357090"/>
          </a:xfrm>
          <a:prstGeom prst="roundRect">
            <a:avLst>
              <a:gd name="adj" fmla="val 7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5" name="Shape 3"/>
          <p:cNvSpPr/>
          <p:nvPr/>
        </p:nvSpPr>
        <p:spPr>
          <a:xfrm>
            <a:off x="3492500" y="329689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5D366"/>
          </a:solidFill>
          <a:ln/>
        </p:spPr>
        <p:txBody>
          <a:bodyPr/>
          <a:lstStyle/>
          <a:p>
            <a:endParaRPr lang="en-SA"/>
          </a:p>
        </p:txBody>
      </p:sp>
      <p:pic>
        <p:nvPicPr>
          <p:cNvPr id="6" name="Image 0" descr="Cha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32200" y="3436590"/>
            <a:ext cx="330200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22464" y="4058890"/>
            <a:ext cx="140047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GREEN-API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52879" y="4485580"/>
            <a:ext cx="368884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Sends automatic WhatsApp notifications for every key booking event.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8400" y="2941290"/>
            <a:ext cx="4292600" cy="2357090"/>
          </a:xfrm>
          <a:prstGeom prst="roundRect">
            <a:avLst>
              <a:gd name="adj" fmla="val 75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A"/>
          </a:p>
        </p:txBody>
      </p:sp>
      <p:sp>
        <p:nvSpPr>
          <p:cNvPr id="10" name="Shape 7"/>
          <p:cNvSpPr/>
          <p:nvPr/>
        </p:nvSpPr>
        <p:spPr>
          <a:xfrm>
            <a:off x="8089900" y="3296890"/>
            <a:ext cx="609600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4285F4"/>
              </a:gs>
              <a:gs pos="50000">
                <a:srgbClr val="9B72CB"/>
              </a:gs>
              <a:gs pos="100000">
                <a:srgbClr val="D96570"/>
              </a:gs>
            </a:gsLst>
            <a:lin ang="2700000" scaled="0"/>
          </a:gradFill>
          <a:ln/>
        </p:spPr>
        <p:txBody>
          <a:bodyPr/>
          <a:lstStyle/>
          <a:p>
            <a:endParaRPr lang="en-SA"/>
          </a:p>
        </p:txBody>
      </p:sp>
      <p:pic>
        <p:nvPicPr>
          <p:cNvPr id="11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0" y="3436590"/>
            <a:ext cx="330200" cy="33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04658" y="4058890"/>
            <a:ext cx="183348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B21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50279" y="4485580"/>
            <a:ext cx="368884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Generates bilingual,</a:t>
            </a:r>
            <a:r>
              <a:rPr lang="ar-SA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1200" dirty="0">
                <a:solidFill>
                  <a:srgbClr val="4A556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ready to publish space descriptions on demand.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ackUp logo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46750" y="2385070"/>
            <a:ext cx="698500" cy="698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32027" y="3286770"/>
            <a:ext cx="3839733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b="1" dirty="0">
                <a:solidFill>
                  <a:srgbClr val="F8F5E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Thank You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5541417" y="4188470"/>
            <a:ext cx="115996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8963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12800" y="6238280"/>
            <a:ext cx="25535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PackUp · Store more. Stress less.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37180" y="6238280"/>
            <a:ext cx="892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DE0D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Fai Alharthi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639</Words>
  <Application>Microsoft Macintosh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JetBrains Mono</vt:lpstr>
      <vt:lpstr>Sora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PackUp — Capstone Presentation</dc:title>
  <dc:subject>PptxGenJS Presentation</dc:subject>
  <dc:creator>PptxGenJS</dc:creator>
  <cp:lastModifiedBy>في الحارثي ID 442202288</cp:lastModifiedBy>
  <cp:revision>4</cp:revision>
  <dcterms:created xsi:type="dcterms:W3CDTF">2026-09-27T21:27:45Z</dcterms:created>
  <dcterms:modified xsi:type="dcterms:W3CDTF">2026-09-28T06:32:09Z</dcterms:modified>
</cp:coreProperties>
</file>