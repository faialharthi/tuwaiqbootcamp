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6" d="100"/>
          <a:sy n="106" d="100"/>
        </p:scale>
        <p:origin x="1336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97390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238280"/>
            <a:ext cx="318057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B5A2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Rent storage space from people near you</a:t>
            </a:r>
            <a:endParaRPr lang="en-US" sz="1200" dirty="0"/>
          </a:p>
        </p:txBody>
      </p:sp>
      <p:pic>
        <p:nvPicPr>
          <p:cNvPr id="3" name="Image 0" descr="PackUp logo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19750" y="2057846"/>
            <a:ext cx="952500" cy="952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74712" y="3241898"/>
            <a:ext cx="4842576" cy="977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7500"/>
              </a:lnSpc>
              <a:buNone/>
            </a:pPr>
            <a:r>
              <a:rPr lang="en-US" sz="7500" b="1" kern="0" spc="-100" dirty="0">
                <a:solidFill>
                  <a:srgbClr val="2B211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Pack</a:t>
            </a:r>
            <a:r>
              <a:rPr lang="en-US" sz="7500" b="1" kern="0" spc="-100" dirty="0">
                <a:solidFill>
                  <a:srgbClr val="E8963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Up</a:t>
            </a:r>
            <a:endParaRPr lang="en-US" sz="7500" dirty="0"/>
          </a:p>
        </p:txBody>
      </p:sp>
      <p:sp>
        <p:nvSpPr>
          <p:cNvPr id="5" name="Text 2"/>
          <p:cNvSpPr/>
          <p:nvPr/>
        </p:nvSpPr>
        <p:spPr>
          <a:xfrm>
            <a:off x="4756150" y="4451350"/>
            <a:ext cx="276663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8B5A2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Store more. Stress less.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8B5A2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280120"/>
            <a:ext cx="10883392" cy="946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25"/>
              </a:lnSpc>
              <a:buNone/>
            </a:pPr>
            <a:r>
              <a:rPr lang="en-US" sz="2900" b="1" dirty="0">
                <a:solidFill>
                  <a:srgbClr val="2B211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People have extra space they don't use. Others can't find storage they can afford.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12800" y="2454870"/>
            <a:ext cx="3386634" cy="338713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blurRad="152400" dist="50800" dir="5400000" algn="bl" rotWithShape="0">
              <a:srgbClr val="2B211A">
                <a:alpha val="6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5" name="Shape 3"/>
          <p:cNvSpPr/>
          <p:nvPr/>
        </p:nvSpPr>
        <p:spPr>
          <a:xfrm>
            <a:off x="1117600" y="275967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BE6CB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6" name="Image 0" descr="Hom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31900" y="2873970"/>
            <a:ext cx="228600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17600" y="3343870"/>
            <a:ext cx="2860345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B211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Wasted space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117600" y="3714700"/>
            <a:ext cx="2860345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Garages, storage rooms, and small warehouses sit empty. Their owners earn nothing from them.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02634" y="2454870"/>
            <a:ext cx="3386683" cy="338713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blurRad="152400" dist="50800" dir="5400000" algn="bl" rotWithShape="0">
              <a:srgbClr val="2B211A">
                <a:alpha val="6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10" name="Shape 7"/>
          <p:cNvSpPr/>
          <p:nvPr/>
        </p:nvSpPr>
        <p:spPr>
          <a:xfrm>
            <a:off x="4707434" y="275967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BE6CB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11" name="Image 1" descr="Warni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21734" y="2873970"/>
            <a:ext cx="228600" cy="228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07434" y="3343870"/>
            <a:ext cx="286039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B211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Storage is expensive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707434" y="3714700"/>
            <a:ext cx="2860396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Storage companies charge high prices and ask for long contracts. They're not always close by either.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992517" y="2454870"/>
            <a:ext cx="3386683" cy="338713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blurRad="152400" dist="50800" dir="5400000" algn="bl" rotWithShape="0">
              <a:srgbClr val="2B211A">
                <a:alpha val="6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15" name="Shape 11"/>
          <p:cNvSpPr/>
          <p:nvPr/>
        </p:nvSpPr>
        <p:spPr>
          <a:xfrm>
            <a:off x="8297317" y="275967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BE6CB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16" name="Image 2" descr="Users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411617" y="2873970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97317" y="3343870"/>
            <a:ext cx="286039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B211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No easy way to connect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297317" y="3714700"/>
            <a:ext cx="2860396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There's no simple app that connects the two sides — the way ride-sharing apps connect drivers and riders.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812800" y="6238280"/>
            <a:ext cx="202919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B5A2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PackUp · Capstone Project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8B5A2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 COMMON SCENARIO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280120"/>
            <a:ext cx="10883392" cy="452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2B211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Two people who never met and don't need to look far.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960811"/>
            <a:ext cx="4775200" cy="3360489"/>
          </a:xfrm>
          <a:prstGeom prst="roundRect">
            <a:avLst>
              <a:gd name="adj" fmla="val 4535"/>
            </a:avLst>
          </a:prstGeom>
          <a:solidFill>
            <a:srgbClr val="EDE0D0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5" name="Text 3"/>
          <p:cNvSpPr/>
          <p:nvPr/>
        </p:nvSpPr>
        <p:spPr>
          <a:xfrm>
            <a:off x="1117600" y="2265611"/>
            <a:ext cx="4290568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kern="0" spc="50" dirty="0">
                <a:solidFill>
                  <a:srgbClr val="5E3A1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RENTER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7600" y="2562771"/>
            <a:ext cx="429056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2B211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Sara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17600" y="2969171"/>
            <a:ext cx="4290568" cy="1048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15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Sara is moving to a smaller apartment for 3 months. She needs to store her furniture, but a storage company wants 400 SAR a month, with a 6-month contract.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842000" y="3387030"/>
            <a:ext cx="508000" cy="508000"/>
          </a:xfrm>
          <a:prstGeom prst="roundRect">
            <a:avLst>
              <a:gd name="adj" fmla="val 50000"/>
            </a:avLst>
          </a:prstGeom>
          <a:solidFill>
            <a:srgbClr val="FBE6CB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9" name="Image 0" descr="Lightni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56300" y="3501330"/>
            <a:ext cx="279400" cy="2794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604000" y="1960811"/>
            <a:ext cx="4775200" cy="3360489"/>
          </a:xfrm>
          <a:prstGeom prst="roundRect">
            <a:avLst>
              <a:gd name="adj" fmla="val 4535"/>
            </a:avLst>
          </a:prstGeom>
          <a:solidFill>
            <a:srgbClr val="EDE0D0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1" name="Text 8"/>
          <p:cNvSpPr/>
          <p:nvPr/>
        </p:nvSpPr>
        <p:spPr>
          <a:xfrm>
            <a:off x="6908800" y="2265611"/>
            <a:ext cx="4290568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kern="0" spc="50" dirty="0">
                <a:solidFill>
                  <a:srgbClr val="5E3A1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OWNER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908800" y="2562771"/>
            <a:ext cx="429056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2B211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Noura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6908800" y="2969171"/>
            <a:ext cx="4290568" cy="793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15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Noura has an empty garage in Al Olaya. She never uses it, it just sits there, earning her nothing, every month.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54304" y="557530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8B5A2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Neither of them knows the other exists. That's the gap PackUp closes.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8B5A2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305520"/>
            <a:ext cx="10883392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2B211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PackUp connects Sara and Noura directly.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2042120"/>
            <a:ext cx="91567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 platform where anyone can list space they're not using, and anyone nearby can book it. Everything else is handled for them.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2800" y="2854920"/>
            <a:ext cx="1991320" cy="2987080"/>
          </a:xfrm>
          <a:prstGeom prst="roundRect">
            <a:avLst>
              <a:gd name="adj" fmla="val 6378"/>
            </a:avLst>
          </a:prstGeom>
          <a:solidFill>
            <a:srgbClr val="FFFFFF"/>
          </a:solidFill>
          <a:ln/>
          <a:effectLst>
            <a:outerShdw blurRad="152400" dist="50800" dir="5400000" algn="bl" rotWithShape="0">
              <a:srgbClr val="2B211A">
                <a:alpha val="6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6" name="Shape 4"/>
          <p:cNvSpPr/>
          <p:nvPr/>
        </p:nvSpPr>
        <p:spPr>
          <a:xfrm>
            <a:off x="1605260" y="376679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FBE6CB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7" name="Image 0" descr="Users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706860" y="3868390"/>
            <a:ext cx="203200" cy="203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66490" y="4274790"/>
            <a:ext cx="88394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2B211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1. Register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39800" y="4574480"/>
            <a:ext cx="17373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Create an account as an owner or a renter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956520" y="2854920"/>
            <a:ext cx="1991370" cy="2987080"/>
          </a:xfrm>
          <a:prstGeom prst="roundRect">
            <a:avLst>
              <a:gd name="adj" fmla="val 6378"/>
            </a:avLst>
          </a:prstGeom>
          <a:solidFill>
            <a:srgbClr val="FFFFFF"/>
          </a:solidFill>
          <a:ln/>
          <a:effectLst>
            <a:outerShdw blurRad="152400" dist="50800" dir="5400000" algn="bl" rotWithShape="0">
              <a:srgbClr val="2B211A">
                <a:alpha val="6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11" name="Shape 8"/>
          <p:cNvSpPr/>
          <p:nvPr/>
        </p:nvSpPr>
        <p:spPr>
          <a:xfrm>
            <a:off x="3748980" y="376679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FBE6CB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12" name="Image 1" descr="Home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850580" y="3868390"/>
            <a:ext cx="203200" cy="203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43523" y="4274790"/>
            <a:ext cx="1217315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2B211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2. List a space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083520" y="4574480"/>
            <a:ext cx="173737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Owners publish their space in minutes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100290" y="2854920"/>
            <a:ext cx="1991370" cy="2987080"/>
          </a:xfrm>
          <a:prstGeom prst="roundRect">
            <a:avLst>
              <a:gd name="adj" fmla="val 6378"/>
            </a:avLst>
          </a:prstGeom>
          <a:solidFill>
            <a:srgbClr val="FFFFFF"/>
          </a:solidFill>
          <a:ln/>
          <a:effectLst>
            <a:outerShdw blurRad="152400" dist="50800" dir="5400000" algn="bl" rotWithShape="0">
              <a:srgbClr val="2B211A">
                <a:alpha val="6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16" name="Shape 12"/>
          <p:cNvSpPr/>
          <p:nvPr/>
        </p:nvSpPr>
        <p:spPr>
          <a:xfrm>
            <a:off x="5892750" y="376679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FBE6CB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17" name="Image 2" descr="Check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94350" y="3868390"/>
            <a:ext cx="203200" cy="203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769273" y="4274790"/>
            <a:ext cx="653355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2B211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3. Book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5227290" y="4574480"/>
            <a:ext cx="173737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Renters check availability and book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7244060" y="2854920"/>
            <a:ext cx="1991370" cy="2987080"/>
          </a:xfrm>
          <a:prstGeom prst="roundRect">
            <a:avLst>
              <a:gd name="adj" fmla="val 6378"/>
            </a:avLst>
          </a:prstGeom>
          <a:solidFill>
            <a:srgbClr val="FFFFFF"/>
          </a:solidFill>
          <a:ln/>
          <a:effectLst>
            <a:outerShdw blurRad="152400" dist="50800" dir="5400000" algn="bl" rotWithShape="0">
              <a:srgbClr val="2B211A">
                <a:alpha val="6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21" name="Shape 16"/>
          <p:cNvSpPr/>
          <p:nvPr/>
        </p:nvSpPr>
        <p:spPr>
          <a:xfrm>
            <a:off x="8036520" y="376679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FBE6CB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22" name="Image 3" descr="Chat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138120" y="3868390"/>
            <a:ext cx="203200" cy="203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576344" y="4274790"/>
            <a:ext cx="1326753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2B211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4. Stay updated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7371060" y="4574480"/>
            <a:ext cx="173737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Both sides get WhatsApp alerts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9387830" y="2854920"/>
            <a:ext cx="1991370" cy="2987080"/>
          </a:xfrm>
          <a:prstGeom prst="roundRect">
            <a:avLst>
              <a:gd name="adj" fmla="val 6378"/>
            </a:avLst>
          </a:prstGeom>
          <a:solidFill>
            <a:srgbClr val="FFFFFF"/>
          </a:solidFill>
          <a:ln/>
          <a:effectLst>
            <a:outerShdw blurRad="152400" dist="50800" dir="5400000" algn="bl" rotWithShape="0">
              <a:srgbClr val="2B211A">
                <a:alpha val="6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26" name="Shape 20"/>
          <p:cNvSpPr/>
          <p:nvPr/>
        </p:nvSpPr>
        <p:spPr>
          <a:xfrm>
            <a:off x="10180290" y="376679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FBE6CB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27" name="Image 4" descr="Star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0281890" y="3868390"/>
            <a:ext cx="203200" cy="2032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972377" y="4274790"/>
            <a:ext cx="822275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2B211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5. Review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9514830" y="4574480"/>
            <a:ext cx="173737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Renters rate their experience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8B5A2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KEY FEATURE · 1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305520"/>
            <a:ext cx="10883392" cy="46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80"/>
              </a:lnSpc>
              <a:buNone/>
            </a:pPr>
            <a:r>
              <a:rPr lang="en-US" sz="2900" b="1" dirty="0">
                <a:solidFill>
                  <a:srgbClr val="2B211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Owners stay in control. Renters book with confidence.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12800" y="2026841"/>
            <a:ext cx="5181600" cy="3815159"/>
          </a:xfrm>
          <a:prstGeom prst="roundRect">
            <a:avLst>
              <a:gd name="adj" fmla="val 3995"/>
            </a:avLst>
          </a:prstGeom>
          <a:solidFill>
            <a:srgbClr val="FFFFFF"/>
          </a:solidFill>
          <a:ln/>
          <a:effectLst>
            <a:outerShdw blurRad="152400" dist="50800" dir="5400000" algn="bl" rotWithShape="0">
              <a:srgbClr val="2B211A">
                <a:alpha val="6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5" name="Shape 3"/>
          <p:cNvSpPr/>
          <p:nvPr/>
        </p:nvSpPr>
        <p:spPr>
          <a:xfrm>
            <a:off x="1117600" y="2331641"/>
            <a:ext cx="511969" cy="279400"/>
          </a:xfrm>
          <a:prstGeom prst="roundRect">
            <a:avLst>
              <a:gd name="adj" fmla="val 50000"/>
            </a:avLst>
          </a:prstGeom>
          <a:solidFill>
            <a:srgbClr val="8B5A2B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6" name="Text 4"/>
          <p:cNvSpPr/>
          <p:nvPr/>
        </p:nvSpPr>
        <p:spPr>
          <a:xfrm>
            <a:off x="1244600" y="2382441"/>
            <a:ext cx="308769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PUT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7600" y="2738041"/>
            <a:ext cx="470916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5E3A1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/space/changeStatus/{spaceId}/{ownerId}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17600" y="3060601"/>
            <a:ext cx="470916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B211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Turn availability on or off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17600" y="3431431"/>
            <a:ext cx="470916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Owners can mark their space as available or not, any time — no more outdated listings.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97600" y="2026841"/>
            <a:ext cx="5181600" cy="3815159"/>
          </a:xfrm>
          <a:prstGeom prst="roundRect">
            <a:avLst>
              <a:gd name="adj" fmla="val 3995"/>
            </a:avLst>
          </a:prstGeom>
          <a:solidFill>
            <a:srgbClr val="FFFFFF"/>
          </a:solidFill>
          <a:ln/>
          <a:effectLst>
            <a:outerShdw blurRad="152400" dist="50800" dir="5400000" algn="bl" rotWithShape="0">
              <a:srgbClr val="2B211A">
                <a:alpha val="6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11" name="Shape 9"/>
          <p:cNvSpPr/>
          <p:nvPr/>
        </p:nvSpPr>
        <p:spPr>
          <a:xfrm>
            <a:off x="6502400" y="2331641"/>
            <a:ext cx="508893" cy="279400"/>
          </a:xfrm>
          <a:prstGeom prst="roundRect">
            <a:avLst>
              <a:gd name="adj" fmla="val 50000"/>
            </a:avLst>
          </a:prstGeom>
          <a:solidFill>
            <a:srgbClr val="E8963C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2" name="Text 10"/>
          <p:cNvSpPr/>
          <p:nvPr/>
        </p:nvSpPr>
        <p:spPr>
          <a:xfrm>
            <a:off x="6629400" y="2382441"/>
            <a:ext cx="305693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GET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502400" y="2738041"/>
            <a:ext cx="470916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5E3A1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/booking/checkAvailability/{spaceId}/{startDate}/{endDate}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02400" y="3256161"/>
            <a:ext cx="470916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B211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Check availability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02400" y="3626991"/>
            <a:ext cx="470916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Renters check that a space is free for their dates — before they book.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80"/>
            <a:ext cx="202919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B5A2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PackUp · Capstone Project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35000"/>
            <a:ext cx="1113193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8B5A2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KEY FEATURE · 2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026120"/>
            <a:ext cx="11131931" cy="375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2B211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Every update reaches the user right away on WhatsApp.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812800" y="2550220"/>
            <a:ext cx="5295900" cy="833041"/>
          </a:xfrm>
          <a:prstGeom prst="roundRect">
            <a:avLst>
              <a:gd name="adj" fmla="val 12196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2B211A">
                <a:alpha val="6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5" name="Shape 3"/>
          <p:cNvSpPr/>
          <p:nvPr/>
        </p:nvSpPr>
        <p:spPr>
          <a:xfrm>
            <a:off x="965200" y="2677220"/>
            <a:ext cx="358378" cy="175220"/>
          </a:xfrm>
          <a:prstGeom prst="roundRect">
            <a:avLst>
              <a:gd name="adj" fmla="val 50000"/>
            </a:avLst>
          </a:prstGeom>
          <a:solidFill>
            <a:srgbClr val="8B5A2B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6" name="Text 4"/>
          <p:cNvSpPr/>
          <p:nvPr/>
        </p:nvSpPr>
        <p:spPr>
          <a:xfrm>
            <a:off x="1054100" y="2702620"/>
            <a:ext cx="231378" cy="149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PUT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399778" y="2698155"/>
            <a:ext cx="2648902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5E3A1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/booking/cancelBooking/{bookingId}/{renterId}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965200" y="2890540"/>
            <a:ext cx="5140833" cy="193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20"/>
              </a:lnSpc>
              <a:buNone/>
            </a:pPr>
            <a:r>
              <a:rPr lang="en-US" sz="1100" b="1" dirty="0">
                <a:solidFill>
                  <a:srgbClr val="2B211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Cancel a booking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5200" y="3096270"/>
            <a:ext cx="5140833" cy="1853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Sends the renter an instant WhatsApp cancellation notice.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12800" y="3484860"/>
            <a:ext cx="5295900" cy="833041"/>
          </a:xfrm>
          <a:prstGeom prst="roundRect">
            <a:avLst>
              <a:gd name="adj" fmla="val 12196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2B211A">
                <a:alpha val="6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11" name="Shape 9"/>
          <p:cNvSpPr/>
          <p:nvPr/>
        </p:nvSpPr>
        <p:spPr>
          <a:xfrm>
            <a:off x="965200" y="3611860"/>
            <a:ext cx="358378" cy="175220"/>
          </a:xfrm>
          <a:prstGeom prst="roundRect">
            <a:avLst>
              <a:gd name="adj" fmla="val 50000"/>
            </a:avLst>
          </a:prstGeom>
          <a:solidFill>
            <a:srgbClr val="8B5A2B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2" name="Text 10"/>
          <p:cNvSpPr/>
          <p:nvPr/>
        </p:nvSpPr>
        <p:spPr>
          <a:xfrm>
            <a:off x="1054100" y="3637260"/>
            <a:ext cx="231378" cy="149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PUT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399778" y="3632795"/>
            <a:ext cx="341409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5E3A1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/booking/extendBooking/{bookingId}/{renterId}/{newEndDate}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965200" y="3825180"/>
            <a:ext cx="5140833" cy="193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20"/>
              </a:lnSpc>
              <a:buNone/>
            </a:pPr>
            <a:r>
              <a:rPr lang="en-US" sz="1100" b="1" dirty="0">
                <a:solidFill>
                  <a:srgbClr val="2B211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Extend a booking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5200" y="4030911"/>
            <a:ext cx="5140833" cy="1853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Sends the renter a WhatsApp message confirming the new end date.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12800" y="4419501"/>
            <a:ext cx="5295900" cy="833041"/>
          </a:xfrm>
          <a:prstGeom prst="roundRect">
            <a:avLst>
              <a:gd name="adj" fmla="val 12196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2B211A">
                <a:alpha val="6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17" name="Shape 15"/>
          <p:cNvSpPr/>
          <p:nvPr/>
        </p:nvSpPr>
        <p:spPr>
          <a:xfrm>
            <a:off x="965200" y="4546501"/>
            <a:ext cx="358378" cy="175220"/>
          </a:xfrm>
          <a:prstGeom prst="roundRect">
            <a:avLst>
              <a:gd name="adj" fmla="val 50000"/>
            </a:avLst>
          </a:prstGeom>
          <a:solidFill>
            <a:srgbClr val="8B5A2B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8" name="Text 16"/>
          <p:cNvSpPr/>
          <p:nvPr/>
        </p:nvSpPr>
        <p:spPr>
          <a:xfrm>
            <a:off x="1054100" y="4571901"/>
            <a:ext cx="231378" cy="149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PUT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1399778" y="4567436"/>
            <a:ext cx="3472954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5E3A1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/booking/completeBooking/{bookingId}/{renterId}/{newAmount}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65200" y="4759821"/>
            <a:ext cx="5140833" cy="193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20"/>
              </a:lnSpc>
              <a:buNone/>
            </a:pPr>
            <a:r>
              <a:rPr lang="en-US" sz="1100" b="1" dirty="0">
                <a:solidFill>
                  <a:srgbClr val="2B211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Complete a booking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65200" y="4965551"/>
            <a:ext cx="5140833" cy="1853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Sends a thank-you message, plus a 20% discount for next time.</a:t>
            </a:r>
            <a:endParaRPr lang="en-US" sz="900" dirty="0"/>
          </a:p>
        </p:txBody>
      </p:sp>
      <p:pic>
        <p:nvPicPr>
          <p:cNvPr id="22" name="Image 0" descr="WhatsApp booking cancelled notification on a phone"/>
          <p:cNvPicPr>
            <a:picLocks noChangeAspect="1"/>
          </p:cNvPicPr>
          <p:nvPr/>
        </p:nvPicPr>
        <p:blipFill>
          <a:blip r:embed="rId3"/>
          <a:srcRect t="-67" b="-67"/>
          <a:stretch/>
        </p:blipFill>
        <p:spPr>
          <a:xfrm>
            <a:off x="6648450" y="2317055"/>
            <a:ext cx="1460500" cy="3168650"/>
          </a:xfrm>
          <a:prstGeom prst="rect">
            <a:avLst/>
          </a:prstGeom>
        </p:spPr>
      </p:pic>
      <p:pic>
        <p:nvPicPr>
          <p:cNvPr id="23" name="Image 1" descr="WhatsApp booking extended notification on a phone"/>
          <p:cNvPicPr>
            <a:picLocks noChangeAspect="1"/>
          </p:cNvPicPr>
          <p:nvPr/>
        </p:nvPicPr>
        <p:blipFill>
          <a:blip r:embed="rId4"/>
          <a:srcRect t="-67" b="-67"/>
          <a:stretch/>
        </p:blipFill>
        <p:spPr>
          <a:xfrm>
            <a:off x="8286750" y="2317055"/>
            <a:ext cx="1460500" cy="3168650"/>
          </a:xfrm>
          <a:prstGeom prst="rect">
            <a:avLst/>
          </a:prstGeom>
        </p:spPr>
      </p:pic>
      <p:pic>
        <p:nvPicPr>
          <p:cNvPr id="24" name="Image 2" descr="WhatsApp booking completed notification with loyalty discount on a phone"/>
          <p:cNvPicPr>
            <a:picLocks noChangeAspect="1"/>
          </p:cNvPicPr>
          <p:nvPr/>
        </p:nvPicPr>
        <p:blipFill>
          <a:blip r:embed="rId5"/>
          <a:srcRect t="-67" b="-67"/>
          <a:stretch/>
        </p:blipFill>
        <p:spPr>
          <a:xfrm>
            <a:off x="9925050" y="2317055"/>
            <a:ext cx="1460500" cy="31686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8B5A2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KEY FEATURE · 3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305520"/>
            <a:ext cx="10883392" cy="46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80"/>
              </a:lnSpc>
              <a:buNone/>
            </a:pPr>
            <a:r>
              <a:rPr lang="en-US" sz="2900" b="1" dirty="0">
                <a:solidFill>
                  <a:srgbClr val="2B211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Built-in trust, and a clear view of earnings.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12800" y="2026841"/>
            <a:ext cx="5181600" cy="3815159"/>
          </a:xfrm>
          <a:prstGeom prst="roundRect">
            <a:avLst>
              <a:gd name="adj" fmla="val 3995"/>
            </a:avLst>
          </a:prstGeom>
          <a:solidFill>
            <a:srgbClr val="FFFFFF"/>
          </a:solidFill>
          <a:ln/>
          <a:effectLst>
            <a:outerShdw blurRad="152400" dist="50800" dir="5400000" algn="bl" rotWithShape="0">
              <a:srgbClr val="2B211A">
                <a:alpha val="6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5" name="Shape 3"/>
          <p:cNvSpPr/>
          <p:nvPr/>
        </p:nvSpPr>
        <p:spPr>
          <a:xfrm>
            <a:off x="1117600" y="2331641"/>
            <a:ext cx="511969" cy="279400"/>
          </a:xfrm>
          <a:prstGeom prst="roundRect">
            <a:avLst>
              <a:gd name="adj" fmla="val 50000"/>
            </a:avLst>
          </a:prstGeom>
          <a:solidFill>
            <a:srgbClr val="8B5A2B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6" name="Text 4"/>
          <p:cNvSpPr/>
          <p:nvPr/>
        </p:nvSpPr>
        <p:spPr>
          <a:xfrm>
            <a:off x="1244600" y="2382441"/>
            <a:ext cx="308769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PUT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7600" y="2738041"/>
            <a:ext cx="470916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5E3A1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/user/blockRenter/{ownerId}/{blockedRenter}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17600" y="3060601"/>
            <a:ext cx="470916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B211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Block a renter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17600" y="3431431"/>
            <a:ext cx="470916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If a renter causes problems, the owner can block them from booking again.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97600" y="2026841"/>
            <a:ext cx="5181600" cy="3815159"/>
          </a:xfrm>
          <a:prstGeom prst="roundRect">
            <a:avLst>
              <a:gd name="adj" fmla="val 3995"/>
            </a:avLst>
          </a:prstGeom>
          <a:solidFill>
            <a:srgbClr val="FFFFFF"/>
          </a:solidFill>
          <a:ln/>
          <a:effectLst>
            <a:outerShdw blurRad="152400" dist="50800" dir="5400000" algn="bl" rotWithShape="0">
              <a:srgbClr val="2B211A">
                <a:alpha val="6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11" name="Shape 9"/>
          <p:cNvSpPr/>
          <p:nvPr/>
        </p:nvSpPr>
        <p:spPr>
          <a:xfrm>
            <a:off x="6502400" y="2331641"/>
            <a:ext cx="508893" cy="279400"/>
          </a:xfrm>
          <a:prstGeom prst="roundRect">
            <a:avLst>
              <a:gd name="adj" fmla="val 50000"/>
            </a:avLst>
          </a:prstGeom>
          <a:solidFill>
            <a:srgbClr val="E8963C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2" name="Text 10"/>
          <p:cNvSpPr/>
          <p:nvPr/>
        </p:nvSpPr>
        <p:spPr>
          <a:xfrm>
            <a:off x="6629400" y="2382441"/>
            <a:ext cx="305693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GET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502400" y="2738041"/>
            <a:ext cx="470916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5E3A1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/booking/calculateProfits/{ownerId}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02400" y="3060601"/>
            <a:ext cx="470916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B211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See total earnings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02400" y="3431431"/>
            <a:ext cx="470916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Owners can see how much they've earned from all their completed bookings, in one place.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80"/>
            <a:ext cx="202919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B5A2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PackUp · Capstone Project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B21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E8963C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POWERED BY AI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305520"/>
            <a:ext cx="10883392" cy="46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80"/>
              </a:lnSpc>
              <a:buNone/>
            </a:pPr>
            <a:r>
              <a:rPr lang="en-US" sz="2900" b="1" dirty="0">
                <a:solidFill>
                  <a:srgbClr val="F8F5E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Writing a good listing description takes seconds.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12800" y="2026841"/>
            <a:ext cx="4072483" cy="3307159"/>
          </a:xfrm>
          <a:prstGeom prst="roundRect">
            <a:avLst>
              <a:gd name="adj" fmla="val 4608"/>
            </a:avLst>
          </a:prstGeom>
          <a:solidFill>
            <a:srgbClr val="3A2E22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5" name="Text 3"/>
          <p:cNvSpPr/>
          <p:nvPr/>
        </p:nvSpPr>
        <p:spPr>
          <a:xfrm>
            <a:off x="1092200" y="2306241"/>
            <a:ext cx="3619094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kern="0" spc="50" dirty="0">
                <a:solidFill>
                  <a:srgbClr val="E8963C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OWNER PROVIDES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2200" y="2611041"/>
            <a:ext cx="3619094" cy="8673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8120" indent="-155956" algn="l">
              <a:lnSpc>
                <a:spcPts val="2210"/>
              </a:lnSpc>
              <a:buSzPct val="100000"/>
              <a:buChar char="•"/>
            </a:pPr>
            <a:r>
              <a:rPr lang="en-US" sz="1300" dirty="0">
                <a:solidFill>
                  <a:srgbClr val="EDE0D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Title</a:t>
            </a:r>
            <a:endParaRPr lang="en-US" sz="1300" dirty="0"/>
          </a:p>
          <a:p>
            <a:pPr marL="198120" indent="-155956" algn="l">
              <a:lnSpc>
                <a:spcPts val="2210"/>
              </a:lnSpc>
              <a:buSzPct val="100000"/>
              <a:buChar char="•"/>
            </a:pPr>
            <a:r>
              <a:rPr lang="en-US" sz="1300" dirty="0">
                <a:solidFill>
                  <a:srgbClr val="EDE0D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City &amp; address</a:t>
            </a:r>
            <a:endParaRPr lang="en-US" sz="1300" dirty="0"/>
          </a:p>
          <a:p>
            <a:pPr marL="198120" indent="-155956" algn="l">
              <a:lnSpc>
                <a:spcPts val="2210"/>
              </a:lnSpc>
              <a:buSzPct val="100000"/>
              <a:buChar char="•"/>
            </a:pPr>
            <a:r>
              <a:rPr lang="en-US" sz="1300" dirty="0">
                <a:solidFill>
                  <a:srgbClr val="EDE0D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Price &amp; size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164683" y="34518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A2E22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8" name="Image 0" descr="Lightni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78983" y="3566120"/>
            <a:ext cx="228600" cy="2286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901283" y="2026841"/>
            <a:ext cx="5477917" cy="3307159"/>
          </a:xfrm>
          <a:prstGeom prst="roundRect">
            <a:avLst>
              <a:gd name="adj" fmla="val 4608"/>
            </a:avLst>
          </a:prstGeom>
          <a:solidFill>
            <a:srgbClr val="3A2E22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0" name="Text 7"/>
          <p:cNvSpPr/>
          <p:nvPr/>
        </p:nvSpPr>
        <p:spPr>
          <a:xfrm>
            <a:off x="6180683" y="2306241"/>
            <a:ext cx="506669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kern="0" spc="50" dirty="0">
                <a:solidFill>
                  <a:srgbClr val="E8963C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GEMINI GENERATES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180683" y="2585641"/>
            <a:ext cx="5066690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300" dirty="0">
                <a:solidFill>
                  <a:srgbClr val="F8F5E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 ready-to-use description, written in Arabic and English at the same time.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12800" y="5613400"/>
            <a:ext cx="1088339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DE0D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POST /space/generateDescription — this one call asks Google Gemini to write the listing, so the owner doesn't have to.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28270" y="1559570"/>
            <a:ext cx="11862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8B5A2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POWERED BY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2892432" y="2128490"/>
            <a:ext cx="6407135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2B211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The two integrations in PackUp 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651000" y="2941290"/>
            <a:ext cx="4292600" cy="2357090"/>
          </a:xfrm>
          <a:prstGeom prst="roundRect">
            <a:avLst>
              <a:gd name="adj" fmla="val 754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5" name="Shape 3"/>
          <p:cNvSpPr/>
          <p:nvPr/>
        </p:nvSpPr>
        <p:spPr>
          <a:xfrm>
            <a:off x="3492500" y="3296890"/>
            <a:ext cx="609600" cy="609600"/>
          </a:xfrm>
          <a:prstGeom prst="roundRect">
            <a:avLst>
              <a:gd name="adj" fmla="val 25000"/>
            </a:avLst>
          </a:prstGeom>
          <a:solidFill>
            <a:srgbClr val="25D366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6" name="Image 0" descr="Cha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32200" y="3436590"/>
            <a:ext cx="330200" cy="330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122464" y="4058890"/>
            <a:ext cx="1400473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B211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GREEN-API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952879" y="4485580"/>
            <a:ext cx="3688842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Sends automatic WhatsApp notifications for every key booking event.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48400" y="2941290"/>
            <a:ext cx="4292600" cy="2357090"/>
          </a:xfrm>
          <a:prstGeom prst="roundRect">
            <a:avLst>
              <a:gd name="adj" fmla="val 754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0" name="Shape 7"/>
          <p:cNvSpPr/>
          <p:nvPr/>
        </p:nvSpPr>
        <p:spPr>
          <a:xfrm>
            <a:off x="8089900" y="3296890"/>
            <a:ext cx="609600" cy="6096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4285F4"/>
              </a:gs>
              <a:gs pos="50000">
                <a:srgbClr val="9B72CB"/>
              </a:gs>
              <a:gs pos="100000">
                <a:srgbClr val="D96570"/>
              </a:gs>
            </a:gsLst>
            <a:lin ang="2700000" scaled="0"/>
          </a:gradFill>
          <a:ln/>
        </p:spPr>
        <p:txBody>
          <a:bodyPr/>
          <a:lstStyle/>
          <a:p>
            <a:endParaRPr lang="en-SA"/>
          </a:p>
        </p:txBody>
      </p:sp>
      <p:pic>
        <p:nvPicPr>
          <p:cNvPr id="11" name="Image 1" descr="Lightni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229600" y="3436590"/>
            <a:ext cx="330200" cy="330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04658" y="4058890"/>
            <a:ext cx="1833486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B211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Google Gemini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550279" y="4485580"/>
            <a:ext cx="3688842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Generates bilingual, ready to publish space descriptions on demand.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B21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ackUp logo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46750" y="2385070"/>
            <a:ext cx="698500" cy="698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32027" y="3286770"/>
            <a:ext cx="3839733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5500" b="1" dirty="0">
                <a:solidFill>
                  <a:srgbClr val="F8F5E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Thank You</a:t>
            </a:r>
            <a:endParaRPr lang="en-US" sz="5500" dirty="0"/>
          </a:p>
        </p:txBody>
      </p:sp>
      <p:sp>
        <p:nvSpPr>
          <p:cNvPr id="4" name="Text 1"/>
          <p:cNvSpPr/>
          <p:nvPr/>
        </p:nvSpPr>
        <p:spPr>
          <a:xfrm>
            <a:off x="5541417" y="4188470"/>
            <a:ext cx="1159966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E8963C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Questions?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12800" y="6238280"/>
            <a:ext cx="255350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DE0D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PackUp · Store more. Stress less.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537180" y="6238280"/>
            <a:ext cx="8928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DE0D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Fai Alharthi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641</Words>
  <Application>Microsoft Macintosh PowerPoint</Application>
  <PresentationFormat>Widescreen</PresentationFormat>
  <Paragraphs>99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JetBrains Mono</vt:lpstr>
      <vt:lpstr>Sora</vt:lpstr>
      <vt:lpstr>Work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PackUp — Capstone Presentation</dc:title>
  <dc:subject>PptxGenJS Presentation</dc:subject>
  <dc:creator>PptxGenJS</dc:creator>
  <cp:lastModifiedBy>في الحارثي ID 442202288</cp:lastModifiedBy>
  <cp:revision>2</cp:revision>
  <dcterms:created xsi:type="dcterms:W3CDTF">2026-09-27T21:27:45Z</dcterms:created>
  <dcterms:modified xsi:type="dcterms:W3CDTF">2026-09-27T21:29:17Z</dcterms:modified>
</cp:coreProperties>
</file>